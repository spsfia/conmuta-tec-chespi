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notesMasterIdLst>
    <p:notesMasterId r:id="rId15"/>
  </p:notesMasterIdLst>
  <p:sldIdLst>
    <p:sldId id="256" r:id="rId2"/>
    <p:sldId id="258" r:id="rId3"/>
    <p:sldId id="267" r:id="rId4"/>
    <p:sldId id="265" r:id="rId5"/>
    <p:sldId id="264" r:id="rId6"/>
    <p:sldId id="259" r:id="rId7"/>
    <p:sldId id="260" r:id="rId8"/>
    <p:sldId id="266" r:id="rId9"/>
    <p:sldId id="261" r:id="rId10"/>
    <p:sldId id="262" r:id="rId11"/>
    <p:sldId id="268" r:id="rId12"/>
    <p:sldId id="269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FA0E"/>
    <a:srgbClr val="DBFC18"/>
    <a:srgbClr val="FE1200"/>
    <a:srgbClr val="95A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E836F-7408-4161-A141-15C82CF507EA}" type="datetimeFigureOut">
              <a:rPr lang="es-MX" smtClean="0"/>
              <a:t>07/01/2026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FED4E-9D6D-4762-92B4-9002BD96DD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3423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FED4E-9D6D-4762-92B4-9002BD96DD01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733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654C-1662-469A-85E3-BEAAE5AA32A0}" type="datetimeFigureOut">
              <a:rPr lang="es-MX" smtClean="0"/>
              <a:t>07/01/2026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3BE16CF0-7181-48F0-889F-D36877099954}" type="slidenum">
              <a:rPr lang="es-MX" smtClean="0"/>
              <a:t>‹Nº›</a:t>
            </a:fld>
            <a:endParaRPr lang="es-MX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133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654C-1662-469A-85E3-BEAAE5AA32A0}" type="datetimeFigureOut">
              <a:rPr lang="es-MX" smtClean="0"/>
              <a:t>07/01/2026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CF0-7181-48F0-889F-D36877099954}" type="slidenum">
              <a:rPr lang="es-MX" smtClean="0"/>
              <a:t>‹Nº›</a:t>
            </a:fld>
            <a:endParaRPr lang="es-MX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870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654C-1662-469A-85E3-BEAAE5AA32A0}" type="datetimeFigureOut">
              <a:rPr lang="es-MX" smtClean="0"/>
              <a:t>07/01/2026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CF0-7181-48F0-889F-D36877099954}" type="slidenum">
              <a:rPr lang="es-MX" smtClean="0"/>
              <a:t>‹Nº›</a:t>
            </a:fld>
            <a:endParaRPr lang="es-MX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80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654C-1662-469A-85E3-BEAAE5AA32A0}" type="datetimeFigureOut">
              <a:rPr lang="es-MX" smtClean="0"/>
              <a:t>07/01/2026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CF0-7181-48F0-889F-D36877099954}" type="slidenum">
              <a:rPr lang="es-MX" smtClean="0"/>
              <a:t>‹Nº›</a:t>
            </a:fld>
            <a:endParaRPr lang="es-MX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85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654C-1662-469A-85E3-BEAAE5AA32A0}" type="datetimeFigureOut">
              <a:rPr lang="es-MX" smtClean="0"/>
              <a:t>07/01/2026</a:t>
            </a:fld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CF0-7181-48F0-889F-D3687709995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50315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654C-1662-469A-85E3-BEAAE5AA32A0}" type="datetimeFigureOut">
              <a:rPr lang="es-MX" smtClean="0"/>
              <a:t>07/01/2026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CF0-7181-48F0-889F-D3687709995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40114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654C-1662-469A-85E3-BEAAE5AA32A0}" type="datetimeFigureOut">
              <a:rPr lang="es-MX" smtClean="0"/>
              <a:t>07/01/2026</a:t>
            </a:fld>
            <a:endParaRPr lang="es-MX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CF0-7181-48F0-889F-D3687709995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1782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654C-1662-469A-85E3-BEAAE5AA32A0}" type="datetimeFigureOut">
              <a:rPr lang="es-MX" smtClean="0"/>
              <a:t>07/01/2026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CF0-7181-48F0-889F-D36877099954}" type="slidenum">
              <a:rPr lang="es-MX" smtClean="0"/>
              <a:t>‹Nº›</a:t>
            </a:fld>
            <a:endParaRPr lang="es-MX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094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1E3A654C-1662-469A-85E3-BEAAE5AA32A0}" type="datetimeFigureOut">
              <a:rPr lang="es-MX" smtClean="0"/>
              <a:t>07/01/2026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CF0-7181-48F0-889F-D36877099954}" type="slidenum">
              <a:rPr lang="es-MX" smtClean="0"/>
              <a:t>‹Nº›</a:t>
            </a:fld>
            <a:endParaRPr lang="es-MX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24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654C-1662-469A-85E3-BEAAE5AA32A0}" type="datetimeFigureOut">
              <a:rPr lang="es-MX" smtClean="0"/>
              <a:t>07/01/2026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CF0-7181-48F0-889F-D3687709995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79629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654C-1662-469A-85E3-BEAAE5AA32A0}" type="datetimeFigureOut">
              <a:rPr lang="es-MX" smtClean="0"/>
              <a:t>07/01/2026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6CF0-7181-48F0-889F-D36877099954}" type="slidenum">
              <a:rPr lang="es-MX" smtClean="0"/>
              <a:t>‹Nº›</a:t>
            </a:fld>
            <a:endParaRPr lang="es-MX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15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654C-1662-469A-85E3-BEAAE5AA32A0}" type="datetimeFigureOut">
              <a:rPr lang="es-MX" smtClean="0"/>
              <a:t>07/01/2026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BE16CF0-7181-48F0-889F-D3687709995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7479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conmutae17a@gmail.co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5497" y="0"/>
            <a:ext cx="4536503" cy="6021288"/>
          </a:xfrm>
        </p:spPr>
        <p:txBody>
          <a:bodyPr>
            <a:noAutofit/>
          </a:bodyPr>
          <a:lstStyle/>
          <a:p>
            <a:r>
              <a:rPr lang="es-MX" sz="3600" dirty="0"/>
              <a:t>CONMUTACIÓN</a:t>
            </a:r>
            <a:r>
              <a:rPr lang="es-MX" sz="3600" dirty="0">
                <a:solidFill>
                  <a:schemeClr val="accent3"/>
                </a:solidFill>
              </a:rPr>
              <a:t> </a:t>
            </a:r>
            <a:r>
              <a:rPr lang="es-MX" sz="3600" dirty="0"/>
              <a:t>Y ENRUTAMIENTO</a:t>
            </a:r>
            <a:br>
              <a:rPr lang="es-MX" sz="3600" dirty="0"/>
            </a:br>
            <a:r>
              <a:rPr lang="es-MX" sz="3600" dirty="0"/>
              <a:t>DE REDES DE DATOS.</a:t>
            </a:r>
            <a:br>
              <a:rPr lang="es-MX" sz="3600" dirty="0"/>
            </a:br>
            <a:br>
              <a:rPr lang="es-MX" sz="3600" dirty="0"/>
            </a:br>
            <a:br>
              <a:rPr lang="es-MX" sz="3600" dirty="0"/>
            </a:br>
            <a:br>
              <a:rPr lang="es-MX" sz="3600" dirty="0"/>
            </a:br>
            <a:br>
              <a:rPr lang="es-MX" sz="3600" dirty="0"/>
            </a:br>
            <a:br>
              <a:rPr lang="es-MX" sz="3600" dirty="0"/>
            </a:br>
            <a:br>
              <a:rPr lang="es-MX" sz="3600" dirty="0"/>
            </a:br>
            <a:br>
              <a:rPr lang="es-MX" sz="3600" dirty="0"/>
            </a:br>
            <a:br>
              <a:rPr lang="es-MX" sz="3600" dirty="0"/>
            </a:br>
            <a:endParaRPr lang="es-MX" sz="3600" dirty="0"/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-118530" y="4964863"/>
            <a:ext cx="4032449" cy="1180356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5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35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17145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057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24003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E17A</a:t>
            </a:r>
          </a:p>
          <a:p>
            <a:pPr algn="ctr">
              <a:lnSpc>
                <a:spcPct val="100000"/>
              </a:lnSpc>
            </a:pPr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ING. RICARDO DE ÁVILA SÁNCHEZ</a:t>
            </a:r>
          </a:p>
          <a:p>
            <a:pPr algn="ctr">
              <a:lnSpc>
                <a:spcPct val="100000"/>
              </a:lnSpc>
            </a:pPr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SEMESTRE:  Enero – Junio 2026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5455BE-55AF-FB22-85A6-FFA00190E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556792"/>
            <a:ext cx="5672423" cy="378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2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ódigo Compati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0"/>
            <a:ext cx="6228184" cy="609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-180528" y="260648"/>
            <a:ext cx="3672408" cy="5544616"/>
          </a:xfr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>
            <a:normAutofit fontScale="85000" lnSpcReduction="20000"/>
          </a:bodyPr>
          <a:lstStyle/>
          <a:p>
            <a:pPr marL="109728" indent="0" algn="ctr">
              <a:buNone/>
            </a:pPr>
            <a:r>
              <a:rPr lang="es-MX" sz="2400" b="1" u="sng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rPr>
              <a:t>PLAN DE ESTA SESIÓN</a:t>
            </a:r>
            <a:br>
              <a:rPr lang="es-MX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s-MX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2628" indent="-342900">
              <a:buFont typeface="Wingdings" pitchFamily="2" charset="2"/>
              <a:buChar char="Ø"/>
            </a:pPr>
            <a:r>
              <a:rPr lang="es-MX" sz="2000" b="1" u="sng" dirty="0">
                <a:solidFill>
                  <a:schemeClr val="accent1"/>
                </a:solidFill>
              </a:rPr>
              <a:t>Presentación y reconocimiento de los alumnos</a:t>
            </a:r>
          </a:p>
          <a:p>
            <a:pPr marL="109728" indent="0">
              <a:buNone/>
            </a:pPr>
            <a:endParaRPr lang="es-MX" sz="2000" dirty="0">
              <a:solidFill>
                <a:schemeClr val="bg1"/>
              </a:solidFill>
            </a:endParaRPr>
          </a:p>
          <a:p>
            <a:pPr marL="452628" indent="-342900">
              <a:buFont typeface="Wingdings" pitchFamily="2" charset="2"/>
              <a:buChar char="Ø"/>
            </a:pPr>
            <a:r>
              <a:rPr lang="es-MX" sz="2100" b="1" u="sng" dirty="0">
                <a:solidFill>
                  <a:schemeClr val="accent1"/>
                </a:solidFill>
              </a:rPr>
              <a:t>Expectativas del curso</a:t>
            </a:r>
          </a:p>
          <a:p>
            <a:pPr marL="109728" indent="0">
              <a:buNone/>
            </a:pPr>
            <a:endParaRPr lang="es-MX" sz="2000" dirty="0">
              <a:solidFill>
                <a:schemeClr val="bg1"/>
              </a:solidFill>
            </a:endParaRPr>
          </a:p>
          <a:p>
            <a:pPr marL="452628" indent="-342900">
              <a:buFont typeface="Wingdings" pitchFamily="2" charset="2"/>
              <a:buChar char="Ø"/>
            </a:pPr>
            <a:r>
              <a:rPr lang="es-MX" sz="2100" b="1" u="sng" dirty="0">
                <a:solidFill>
                  <a:schemeClr val="accent1"/>
                </a:solidFill>
              </a:rPr>
              <a:t>Objetivos del curso</a:t>
            </a:r>
          </a:p>
          <a:p>
            <a:pPr marL="452628" indent="-342900">
              <a:buFont typeface="Wingdings" pitchFamily="2" charset="2"/>
              <a:buChar char="Ø"/>
            </a:pPr>
            <a:endParaRPr lang="es-MX" sz="2000" dirty="0">
              <a:solidFill>
                <a:schemeClr val="bg1"/>
              </a:solidFill>
            </a:endParaRPr>
          </a:p>
          <a:p>
            <a:pPr marL="452628" indent="-342900">
              <a:buFont typeface="Wingdings" pitchFamily="2" charset="2"/>
              <a:buChar char="Ø"/>
            </a:pPr>
            <a:r>
              <a:rPr lang="es-MX" sz="2100" b="1" u="sng" dirty="0">
                <a:solidFill>
                  <a:schemeClr val="accent1"/>
                </a:solidFill>
              </a:rPr>
              <a:t>Temario</a:t>
            </a:r>
          </a:p>
          <a:p>
            <a:pPr marL="452628" indent="-342900">
              <a:buFont typeface="Wingdings" pitchFamily="2" charset="2"/>
              <a:buChar char="Ø"/>
            </a:pPr>
            <a:endParaRPr lang="es-MX" sz="2000" dirty="0">
              <a:solidFill>
                <a:schemeClr val="bg1"/>
              </a:solidFill>
            </a:endParaRPr>
          </a:p>
          <a:p>
            <a:pPr marL="452628" indent="-342900">
              <a:buFont typeface="Wingdings" pitchFamily="2" charset="2"/>
              <a:buChar char="Ø"/>
            </a:pPr>
            <a:r>
              <a:rPr lang="es-MX" sz="2100" b="1" u="sng" dirty="0">
                <a:solidFill>
                  <a:schemeClr val="accent1"/>
                </a:solidFill>
              </a:rPr>
              <a:t>Criterios de evaluación</a:t>
            </a:r>
          </a:p>
          <a:p>
            <a:pPr marL="452628" indent="-342900">
              <a:buFont typeface="Wingdings" pitchFamily="2" charset="2"/>
              <a:buChar char="Ø"/>
            </a:pPr>
            <a:endParaRPr lang="es-MX" sz="2000" dirty="0">
              <a:solidFill>
                <a:schemeClr val="bg1"/>
              </a:solidFill>
            </a:endParaRPr>
          </a:p>
          <a:p>
            <a:pPr marL="452628" indent="-342900">
              <a:buFont typeface="Wingdings" pitchFamily="2" charset="2"/>
              <a:buChar char="Ø"/>
            </a:pPr>
            <a:r>
              <a:rPr lang="es-MX" sz="2100" b="1" u="sng" dirty="0">
                <a:solidFill>
                  <a:schemeClr val="accent1"/>
                </a:solidFill>
              </a:rPr>
              <a:t>Evaluación diagnostica</a:t>
            </a:r>
          </a:p>
        </p:txBody>
      </p:sp>
    </p:spTree>
    <p:extLst>
      <p:ext uri="{BB962C8B-B14F-4D97-AF65-F5344CB8AC3E}">
        <p14:creationId xmlns:p14="http://schemas.microsoft.com/office/powerpoint/2010/main" val="124505728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35496" y="-99392"/>
            <a:ext cx="8784976" cy="6048672"/>
          </a:xfrm>
        </p:spPr>
        <p:txBody>
          <a:bodyPr>
            <a:normAutofit/>
          </a:bodyPr>
          <a:lstStyle/>
          <a:p>
            <a:pPr marL="109728" indent="0" algn="r">
              <a:buNone/>
            </a:pPr>
            <a:r>
              <a:rPr lang="es-MX" sz="2400" dirty="0">
                <a:solidFill>
                  <a:schemeClr val="tx2">
                    <a:lumMod val="50000"/>
                  </a:schemeClr>
                </a:solidFill>
                <a:latin typeface="Franklin Gothic Demi Cond" pitchFamily="34" charset="0"/>
              </a:rPr>
              <a:t>OBJETIVOS GENERALES DEL CURSO:</a:t>
            </a:r>
            <a:endParaRPr lang="es-MX" sz="2400" dirty="0">
              <a:solidFill>
                <a:schemeClr val="accent3">
                  <a:lumMod val="75000"/>
                </a:schemeClr>
              </a:solidFill>
              <a:latin typeface="Franklin Gothic Demi Cond" pitchFamily="34" charset="0"/>
            </a:endParaRPr>
          </a:p>
          <a:p>
            <a:pPr marL="395478" indent="-285750" algn="just">
              <a:lnSpc>
                <a:spcPct val="110000"/>
              </a:lnSpc>
              <a:spcBef>
                <a:spcPts val="400"/>
              </a:spcBef>
            </a:pPr>
            <a:r>
              <a:rPr lang="es-MX" sz="2200" dirty="0">
                <a:solidFill>
                  <a:schemeClr val="accent5"/>
                </a:solidFill>
                <a:latin typeface="Franklin Gothic Demi Cond" pitchFamily="34" charset="0"/>
              </a:rPr>
              <a:t>-Realizar la planeación de un proyecto de red y documentar   la   propuesta de solución en base a los lineamientos establecidos por la organización.</a:t>
            </a:r>
            <a:endParaRPr lang="es-MX" sz="2200" dirty="0">
              <a:solidFill>
                <a:schemeClr val="accent5"/>
              </a:solidFill>
            </a:endParaRPr>
          </a:p>
          <a:p>
            <a:pPr marL="109728" indent="0">
              <a:buNone/>
            </a:pPr>
            <a:endParaRPr lang="es-MX" sz="6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95478" indent="-285750" algn="just">
              <a:lnSpc>
                <a:spcPct val="110000"/>
              </a:lnSpc>
              <a:spcBef>
                <a:spcPts val="400"/>
              </a:spcBef>
            </a:pPr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-Seleccionar la mejor propuesta entre los Proveedores de Servicios de Internet (ISP) con base a los requerimientos de ancho de banda, tráfico y seguridad de redes en conexiones WAN.</a:t>
            </a:r>
          </a:p>
          <a:p>
            <a:pPr marL="109728" indent="0">
              <a:buNone/>
            </a:pPr>
            <a:endParaRPr lang="es-MX" sz="6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95478" indent="-285750" algn="just">
              <a:lnSpc>
                <a:spcPct val="100000"/>
              </a:lnSpc>
              <a:spcBef>
                <a:spcPts val="400"/>
              </a:spcBef>
            </a:pPr>
            <a:r>
              <a:rPr lang="es-MX" b="1" dirty="0">
                <a:solidFill>
                  <a:schemeClr val="accent3">
                    <a:lumMod val="50000"/>
                  </a:schemeClr>
                </a:solidFill>
              </a:rPr>
              <a:t>-Instalar y configurar equipos de conmutación y enrutamiento siguiendo las especificaciones del fabricante para asegurar la funcionalidad del mismo.</a:t>
            </a:r>
            <a:endParaRPr lang="es-MX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 descr="Conoce toda la información sobre las compañías de interne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17032"/>
            <a:ext cx="9144000" cy="314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57980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0" y="-99392"/>
            <a:ext cx="9144000" cy="6858000"/>
          </a:xfrm>
        </p:spPr>
        <p:txBody>
          <a:bodyPr>
            <a:normAutofit/>
          </a:bodyPr>
          <a:lstStyle/>
          <a:p>
            <a:pPr marL="109728" indent="0" algn="r">
              <a:buNone/>
            </a:pPr>
            <a:r>
              <a:rPr lang="es-MX" sz="2400" dirty="0">
                <a:latin typeface="Franklin Gothic Demi Cond" pitchFamily="34" charset="0"/>
              </a:rPr>
              <a:t>APORTACIÓN DE LA ASIGNATURA AL PERFIL DEL EGRESADO:</a:t>
            </a:r>
          </a:p>
          <a:p>
            <a:pPr marL="109728" indent="0">
              <a:buNone/>
            </a:pPr>
            <a:endParaRPr lang="es-MX" sz="1000" dirty="0">
              <a:latin typeface="Franklin Gothic Demi Cond" pitchFamily="34" charset="0"/>
            </a:endParaRPr>
          </a:p>
          <a:p>
            <a:pPr marL="395478" indent="-285750" algn="just">
              <a:spcBef>
                <a:spcPts val="0"/>
              </a:spcBef>
            </a:pPr>
            <a:r>
              <a:rPr lang="es-MX" sz="2200" dirty="0">
                <a:solidFill>
                  <a:srgbClr val="C00000"/>
                </a:solidFill>
              </a:rPr>
              <a:t>-</a:t>
            </a:r>
            <a:r>
              <a:rPr lang="es-MX" sz="2200" dirty="0">
                <a:solidFill>
                  <a:schemeClr val="accent5">
                    <a:lumMod val="50000"/>
                  </a:schemeClr>
                </a:solidFill>
              </a:rPr>
              <a:t>Implementa aplicaciones computacionales para solucionar problemas de diversos contextos, integrando diferentes tecnologías, plataformas o dispositivos.</a:t>
            </a:r>
          </a:p>
          <a:p>
            <a:pPr marL="395478" indent="-285750" algn="just">
              <a:spcBef>
                <a:spcPts val="0"/>
              </a:spcBef>
            </a:pPr>
            <a:r>
              <a:rPr lang="es-MX" sz="2200" dirty="0">
                <a:solidFill>
                  <a:srgbClr val="C00000"/>
                </a:solidFill>
              </a:rPr>
              <a:t>-</a:t>
            </a:r>
            <a:r>
              <a:rPr lang="es-MX" sz="2200" dirty="0">
                <a:solidFill>
                  <a:schemeClr val="accent5">
                    <a:lumMod val="50000"/>
                  </a:schemeClr>
                </a:solidFill>
              </a:rPr>
              <a:t>Desarrolla y administra software para apoyar la productividad y competitividad de las organizaciones cumpliendo con estándares de calidad.</a:t>
            </a:r>
          </a:p>
          <a:p>
            <a:pPr marL="395478" indent="-285750" algn="just">
              <a:spcBef>
                <a:spcPts val="0"/>
              </a:spcBef>
            </a:pPr>
            <a:r>
              <a:rPr lang="es-MX" sz="2200" dirty="0">
                <a:solidFill>
                  <a:srgbClr val="FF0000"/>
                </a:solidFill>
              </a:rPr>
              <a:t>-</a:t>
            </a:r>
            <a:r>
              <a:rPr lang="es-MX" sz="2200" dirty="0">
                <a:solidFill>
                  <a:schemeClr val="accent5">
                    <a:lumMod val="50000"/>
                  </a:schemeClr>
                </a:solidFill>
              </a:rPr>
              <a:t>Evalúa tecnologías de hardware para soportar aplicaciones de manera efectiva.</a:t>
            </a:r>
          </a:p>
          <a:p>
            <a:pPr marL="395478" indent="-285750" algn="just">
              <a:spcBef>
                <a:spcPts val="0"/>
              </a:spcBef>
            </a:pPr>
            <a:r>
              <a:rPr lang="es-MX" sz="2200" dirty="0">
                <a:solidFill>
                  <a:srgbClr val="FF0000"/>
                </a:solidFill>
              </a:rPr>
              <a:t>-</a:t>
            </a:r>
            <a:r>
              <a:rPr lang="es-MX" sz="2200" dirty="0">
                <a:solidFill>
                  <a:schemeClr val="accent5">
                    <a:lumMod val="50000"/>
                  </a:schemeClr>
                </a:solidFill>
              </a:rPr>
              <a:t>Diseña, configura y administra redes de computadoras para crear soluciones de conectividad en la organización, aplicando las normas y estándares vigentes.</a:t>
            </a:r>
          </a:p>
          <a:p>
            <a:pPr marL="395478" indent="-285750">
              <a:spcBef>
                <a:spcPts val="0"/>
              </a:spcBef>
            </a:pPr>
            <a:r>
              <a:rPr lang="es-MX" sz="2200" dirty="0">
                <a:solidFill>
                  <a:srgbClr val="FF0000"/>
                </a:solidFill>
              </a:rPr>
              <a:t>-</a:t>
            </a:r>
            <a:r>
              <a:rPr lang="es-MX" sz="2200" dirty="0">
                <a:solidFill>
                  <a:schemeClr val="accent5">
                    <a:lumMod val="50000"/>
                  </a:schemeClr>
                </a:solidFill>
              </a:rPr>
              <a:t>Desarrolla las capacidades básicas para el diseño e implementación de soluciones en redes de datos LAN, MAN y WAN en base a las normas y estándares vigentes.</a:t>
            </a:r>
            <a:br>
              <a:rPr lang="es-MX" sz="2200" dirty="0">
                <a:solidFill>
                  <a:srgbClr val="C00000"/>
                </a:solidFill>
              </a:rPr>
            </a:br>
            <a:endParaRPr lang="es-MX" sz="2200" dirty="0">
              <a:solidFill>
                <a:srgbClr val="C00000"/>
              </a:solidFill>
            </a:endParaRPr>
          </a:p>
          <a:p>
            <a:pPr marL="109728" indent="0">
              <a:buNone/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273621434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0" y="404664"/>
            <a:ext cx="9144000" cy="1224136"/>
          </a:xfrm>
          <a:ln>
            <a:noFill/>
          </a:ln>
        </p:spPr>
        <p:txBody>
          <a:bodyPr>
            <a:noAutofit/>
          </a:bodyPr>
          <a:lstStyle/>
          <a:p>
            <a:r>
              <a:rPr lang="es-MX" sz="2800" b="1" u="sng" dirty="0">
                <a:solidFill>
                  <a:schemeClr val="accent3">
                    <a:lumMod val="75000"/>
                  </a:schemeClr>
                </a:solidFill>
                <a:effectLst/>
              </a:rPr>
              <a:t>TEMA I:</a:t>
            </a:r>
            <a:br>
              <a:rPr lang="es-MX" sz="2800" b="1" u="sng" dirty="0">
                <a:solidFill>
                  <a:schemeClr val="accent3">
                    <a:lumMod val="75000"/>
                  </a:schemeClr>
                </a:solidFill>
                <a:effectLst/>
              </a:rPr>
            </a:br>
            <a:r>
              <a:rPr lang="es-MX" sz="2800" b="1" u="sng" dirty="0">
                <a:solidFill>
                  <a:schemeClr val="accent3">
                    <a:lumMod val="75000"/>
                  </a:schemeClr>
                </a:solidFill>
                <a:effectLst/>
              </a:rPr>
              <a:t>DIRECCIONAMIENTO</a:t>
            </a:r>
            <a:br>
              <a:rPr lang="es-MX" sz="2800" b="1" u="sng" dirty="0">
                <a:solidFill>
                  <a:schemeClr val="accent3">
                    <a:lumMod val="75000"/>
                  </a:schemeClr>
                </a:solidFill>
                <a:effectLst/>
              </a:rPr>
            </a:br>
            <a:r>
              <a:rPr lang="es-MX" sz="2800" b="1" u="sng" dirty="0">
                <a:solidFill>
                  <a:schemeClr val="accent3">
                    <a:lumMod val="75000"/>
                  </a:schemeClr>
                </a:solidFill>
                <a:effectLst/>
              </a:rPr>
              <a:t>IP  Y ENRUTAMIENTO</a:t>
            </a:r>
            <a:endParaRPr lang="es-MX" sz="2800" b="1" u="sng" dirty="0">
              <a:solidFill>
                <a:srgbClr val="FF0000"/>
              </a:solidFill>
              <a:effectLst/>
            </a:endParaRP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1615" y="2924944"/>
            <a:ext cx="9132801" cy="3312368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endParaRPr lang="es-MX" b="1" dirty="0">
              <a:solidFill>
                <a:schemeClr val="accent3">
                  <a:lumMod val="50000"/>
                </a:schemeClr>
              </a:solidFill>
            </a:endParaRPr>
          </a:p>
          <a:p>
            <a:pPr marL="109728" indent="0">
              <a:buNone/>
            </a:pPr>
            <a:r>
              <a:rPr lang="es-MX" b="1" dirty="0">
                <a:solidFill>
                  <a:srgbClr val="002060"/>
                </a:solidFill>
              </a:rPr>
              <a:t>1.1 Direccionamiento IP. </a:t>
            </a:r>
          </a:p>
          <a:p>
            <a:pPr marL="109728" indent="0">
              <a:buNone/>
            </a:pPr>
            <a:r>
              <a:rPr lang="es-MX" dirty="0">
                <a:solidFill>
                  <a:srgbClr val="002060"/>
                </a:solidFill>
              </a:rPr>
              <a:t>	</a:t>
            </a:r>
            <a:r>
              <a:rPr lang="es-MX" b="1" dirty="0">
                <a:solidFill>
                  <a:srgbClr val="002060"/>
                </a:solidFill>
              </a:rPr>
              <a:t>1.1.1 Direccionamiento sin clase (CIDR).</a:t>
            </a:r>
          </a:p>
          <a:p>
            <a:pPr marL="109728" indent="0">
              <a:buNone/>
            </a:pPr>
            <a:r>
              <a:rPr lang="es-MX" b="1" dirty="0">
                <a:solidFill>
                  <a:srgbClr val="002060"/>
                </a:solidFill>
              </a:rPr>
              <a:t>	1.1.2 Direccionamiento con clase (VLSM).</a:t>
            </a:r>
          </a:p>
          <a:p>
            <a:pPr marL="109728" indent="0">
              <a:buNone/>
            </a:pPr>
            <a:r>
              <a:rPr lang="es-MX" b="1" dirty="0">
                <a:solidFill>
                  <a:srgbClr val="002060"/>
                </a:solidFill>
              </a:rPr>
              <a:t>1.2 Enrutamiento estático y dinámico (vector distancia, de enlace).</a:t>
            </a:r>
          </a:p>
          <a:p>
            <a:pPr marL="109728" indent="0">
              <a:buNone/>
            </a:pPr>
            <a:r>
              <a:rPr lang="es-MX" b="1" dirty="0">
                <a:solidFill>
                  <a:srgbClr val="002060"/>
                </a:solidFill>
              </a:rPr>
              <a:t>1.3 Protocolos de enrutamiento (RIP, EIGRP, OSPF, </a:t>
            </a:r>
            <a:r>
              <a:rPr lang="es-MX" b="1" dirty="0" err="1">
                <a:solidFill>
                  <a:srgbClr val="002060"/>
                </a:solidFill>
              </a:rPr>
              <a:t>etc</a:t>
            </a:r>
            <a:r>
              <a:rPr lang="es-MX" b="1" dirty="0">
                <a:solidFill>
                  <a:srgbClr val="002060"/>
                </a:solidFill>
              </a:rPr>
              <a:t>).</a:t>
            </a:r>
          </a:p>
        </p:txBody>
      </p:sp>
      <p:pic>
        <p:nvPicPr>
          <p:cNvPr id="3074" name="Picture 2" descr="▷ Estructura de direcciones IPv4d » CCNA desde Ce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-27384"/>
            <a:ext cx="5076057" cy="347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35934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VLAN La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186" y="1268760"/>
            <a:ext cx="5805814" cy="55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79512" y="-459432"/>
            <a:ext cx="8748464" cy="1426170"/>
          </a:xfrm>
        </p:spPr>
        <p:txBody>
          <a:bodyPr>
            <a:normAutofit/>
          </a:bodyPr>
          <a:lstStyle/>
          <a:p>
            <a:pPr algn="r"/>
            <a:br>
              <a:rPr lang="es-MX" dirty="0"/>
            </a:br>
            <a:r>
              <a:rPr lang="es-MX" b="1" dirty="0">
                <a:solidFill>
                  <a:schemeClr val="accent2">
                    <a:lumMod val="50000"/>
                  </a:schemeClr>
                </a:solidFill>
              </a:rPr>
              <a:t>TEMA II.</a:t>
            </a:r>
            <a:br>
              <a:rPr lang="es-MX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s-MX" b="1" dirty="0">
                <a:solidFill>
                  <a:schemeClr val="accent2">
                    <a:lumMod val="50000"/>
                  </a:schemeClr>
                </a:solidFill>
              </a:rPr>
              <a:t>CONMUTACIÓN DE REDES LAN</a:t>
            </a:r>
            <a:r>
              <a:rPr lang="es-MX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-180528" y="864096"/>
            <a:ext cx="4428492" cy="5013176"/>
          </a:xfrm>
        </p:spPr>
        <p:txBody>
          <a:bodyPr>
            <a:normAutofit fontScale="92500" lnSpcReduction="10000"/>
          </a:bodyPr>
          <a:lstStyle/>
          <a:p>
            <a:pPr marL="109728" indent="0" algn="just">
              <a:buNone/>
            </a:pPr>
            <a:r>
              <a:rPr lang="es-MX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2.1 </a:t>
            </a:r>
            <a:r>
              <a:rPr lang="es-MX" sz="28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Segmentación:  </a:t>
            </a:r>
          </a:p>
          <a:p>
            <a:pPr marL="109728" indent="0" algn="just">
              <a:buNone/>
            </a:pPr>
            <a:r>
              <a:rPr lang="es-MX" sz="28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dominio, De colisión</a:t>
            </a:r>
          </a:p>
          <a:p>
            <a:pPr marL="109728" indent="0" algn="just">
              <a:buNone/>
            </a:pPr>
            <a:r>
              <a:rPr lang="es-MX" sz="28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y  De broadcast.</a:t>
            </a:r>
          </a:p>
          <a:p>
            <a:pPr marL="109728" indent="0">
              <a:buNone/>
            </a:pPr>
            <a:r>
              <a:rPr lang="es-MX" sz="2800" dirty="0">
                <a:solidFill>
                  <a:srgbClr val="0070C0"/>
                </a:solidFill>
              </a:rPr>
              <a:t> </a:t>
            </a:r>
            <a:endParaRPr lang="es-MX" sz="500" dirty="0">
              <a:solidFill>
                <a:srgbClr val="0070C0"/>
              </a:solidFill>
            </a:endParaRPr>
          </a:p>
          <a:p>
            <a:pPr marL="109728" indent="0">
              <a:buNone/>
            </a:pPr>
            <a:r>
              <a:rPr lang="es-MX" sz="28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2.2 Métodos de </a:t>
            </a:r>
          </a:p>
          <a:p>
            <a:pPr marL="109728" indent="0">
              <a:buNone/>
            </a:pPr>
            <a:r>
              <a:rPr lang="es-MX" sz="28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conmutación.</a:t>
            </a:r>
          </a:p>
          <a:p>
            <a:pPr marL="109728" indent="0">
              <a:buNone/>
            </a:pPr>
            <a:endParaRPr lang="es-MX" sz="500" dirty="0">
              <a:solidFill>
                <a:srgbClr val="0070C0"/>
              </a:solidFill>
            </a:endParaRPr>
          </a:p>
          <a:p>
            <a:pPr marL="109728" indent="0">
              <a:buNone/>
            </a:pPr>
            <a:r>
              <a:rPr lang="es-MX" sz="28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2.3 Tecnologías de conmutación: (VLAN, VTP, </a:t>
            </a:r>
            <a:r>
              <a:rPr lang="es-MX" sz="2800" u="sng" dirty="0"/>
              <a:t>STP).</a:t>
            </a:r>
          </a:p>
          <a:p>
            <a:pPr marL="109728" indent="0">
              <a:buNone/>
            </a:pPr>
            <a:endParaRPr lang="es-MX" sz="2800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09728" indent="0">
              <a:buNone/>
            </a:pPr>
            <a:endParaRPr lang="es-MX" sz="2800" u="sng" dirty="0">
              <a:solidFill>
                <a:schemeClr val="accent1"/>
              </a:solidFill>
            </a:endParaRPr>
          </a:p>
          <a:p>
            <a:pPr marL="109728" indent="0">
              <a:buNone/>
            </a:pPr>
            <a:endParaRPr lang="es-MX" sz="2800" u="sng" dirty="0">
              <a:solidFill>
                <a:schemeClr val="accent1"/>
              </a:solidFill>
            </a:endParaRPr>
          </a:p>
          <a:p>
            <a:pPr marL="109728" indent="0">
              <a:buNone/>
            </a:pPr>
            <a:endParaRPr lang="es-MX" dirty="0"/>
          </a:p>
          <a:p>
            <a:pPr marL="109728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3441928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-36512" y="-27384"/>
            <a:ext cx="7632848" cy="1143000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bg1">
                    <a:lumMod val="50000"/>
                  </a:schemeClr>
                </a:solidFill>
                <a:effectLst/>
              </a:rPr>
              <a:t>TEMA III.</a:t>
            </a:r>
            <a:br>
              <a:rPr lang="es-MX" b="1" dirty="0">
                <a:solidFill>
                  <a:schemeClr val="bg1">
                    <a:lumMod val="50000"/>
                  </a:schemeClr>
                </a:solidFill>
                <a:effectLst/>
              </a:rPr>
            </a:br>
            <a:r>
              <a:rPr lang="es-MX" b="1" dirty="0">
                <a:solidFill>
                  <a:schemeClr val="bg1">
                    <a:lumMod val="50000"/>
                  </a:schemeClr>
                </a:solidFill>
                <a:effectLst/>
              </a:rPr>
              <a:t>	               TECNOLOGÍAS WAN.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79512" y="620688"/>
            <a:ext cx="8784976" cy="4525963"/>
          </a:xfrm>
        </p:spPr>
        <p:txBody>
          <a:bodyPr/>
          <a:lstStyle/>
          <a:p>
            <a:pPr marL="109728" indent="0">
              <a:buNone/>
            </a:pPr>
            <a:endParaRPr lang="es-MX" sz="1000" dirty="0"/>
          </a:p>
          <a:p>
            <a:pPr marL="109728" indent="0">
              <a:buNone/>
            </a:pP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3.1 Introducción a redes WAN.</a:t>
            </a:r>
          </a:p>
          <a:p>
            <a:pPr marL="109728" indent="0">
              <a:buNone/>
            </a:pP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3.2 Enlaces: dedicados y conmutados (públicos).</a:t>
            </a:r>
          </a:p>
          <a:p>
            <a:pPr marL="109728" indent="0">
              <a:buNone/>
            </a:pP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3.3 Topologías WAN.</a:t>
            </a:r>
          </a:p>
          <a:p>
            <a:pPr marL="109728" indent="0">
              <a:buNone/>
            </a:pP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3.4 Tecnologías WAN: PPP, XDSL, Frame </a:t>
            </a:r>
            <a:r>
              <a:rPr lang="es-MX" dirty="0" err="1">
                <a:solidFill>
                  <a:schemeClr val="accent1">
                    <a:lumMod val="75000"/>
                  </a:schemeClr>
                </a:solidFill>
              </a:rPr>
              <a:t>Relay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, ISDN, ATM.</a:t>
            </a:r>
          </a:p>
          <a:p>
            <a:pPr marL="109728" indent="0">
              <a:buNone/>
            </a:pP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3.5 Configuración de dispositivos WAN.</a:t>
            </a:r>
          </a:p>
          <a:p>
            <a:pPr marL="109728" indent="0">
              <a:buNone/>
            </a:pP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3.6 Niveles de seguridad en redes VPN</a:t>
            </a:r>
            <a:r>
              <a:rPr lang="es-MX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AutoShape 2" descr="ENLACE DEDICADO contra CONEXIÓN ADSL (Infinitum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828834"/>
            <a:ext cx="8784975" cy="29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7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35496" y="44624"/>
            <a:ext cx="8748464" cy="1143000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accent4"/>
                </a:solidFill>
                <a:effectLst/>
              </a:rPr>
              <a:t>TEMA IV.</a:t>
            </a:r>
            <a:br>
              <a:rPr lang="es-MX" b="1" dirty="0">
                <a:solidFill>
                  <a:schemeClr val="accent4"/>
                </a:solidFill>
                <a:effectLst/>
              </a:rPr>
            </a:br>
            <a:r>
              <a:rPr lang="es-MX" b="1" dirty="0">
                <a:solidFill>
                  <a:schemeClr val="accent4"/>
                </a:solidFill>
                <a:effectLst/>
              </a:rPr>
              <a:t>	TECNOLOGÍAS INALÁMBRICAS.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-180528" y="1040152"/>
            <a:ext cx="8784976" cy="512515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s-MX" sz="2200" dirty="0"/>
              <a:t>4.1 Clasificación:  </a:t>
            </a:r>
          </a:p>
          <a:p>
            <a:pPr marL="109728" indent="0">
              <a:buNone/>
            </a:pPr>
            <a:r>
              <a:rPr lang="es-MX" sz="2200" dirty="0"/>
              <a:t>WPAN,  WLAN,  </a:t>
            </a:r>
          </a:p>
          <a:p>
            <a:pPr marL="109728" indent="0">
              <a:buNone/>
            </a:pPr>
            <a:r>
              <a:rPr lang="es-MX" sz="2200" dirty="0"/>
              <a:t>WMAN,  WWAN.</a:t>
            </a:r>
          </a:p>
          <a:p>
            <a:pPr marL="109728" indent="0">
              <a:buNone/>
            </a:pPr>
            <a:r>
              <a:rPr lang="es-MX" sz="2200" dirty="0"/>
              <a:t>4.2 Estándares y protocolos: </a:t>
            </a:r>
          </a:p>
          <a:p>
            <a:pPr marL="109728" indent="0">
              <a:buNone/>
            </a:pPr>
            <a:r>
              <a:rPr lang="es-MX" sz="2200" dirty="0" err="1"/>
              <a:t>Bluethooth</a:t>
            </a:r>
            <a:r>
              <a:rPr lang="es-MX" sz="2200" dirty="0"/>
              <a:t>, Wi-Fi, Wi-Max.</a:t>
            </a:r>
          </a:p>
          <a:p>
            <a:pPr marL="109728" indent="0">
              <a:buNone/>
            </a:pPr>
            <a:r>
              <a:rPr lang="es-MX" sz="2200" dirty="0"/>
              <a:t>4.3 Dispositivos y configuración.</a:t>
            </a:r>
          </a:p>
          <a:p>
            <a:pPr marL="109728" indent="0">
              <a:buNone/>
            </a:pPr>
            <a:r>
              <a:rPr lang="es-MX" sz="2200" dirty="0"/>
              <a:t>4.4 Seguridad: </a:t>
            </a:r>
          </a:p>
          <a:p>
            <a:pPr marL="109728" indent="0">
              <a:buNone/>
            </a:pPr>
            <a:r>
              <a:rPr lang="es-MX" sz="2200" dirty="0"/>
              <a:t>WEP, WAP, WPA-PSK, </a:t>
            </a:r>
          </a:p>
          <a:p>
            <a:pPr marL="109728" indent="0">
              <a:buNone/>
            </a:pPr>
            <a:r>
              <a:rPr lang="es-MX" sz="2200" dirty="0"/>
              <a:t>WEP2, filtrado de MAC´s.</a:t>
            </a:r>
          </a:p>
        </p:txBody>
      </p:sp>
      <p:pic>
        <p:nvPicPr>
          <p:cNvPr id="6146" name="Picture 2" descr="WW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722196"/>
            <a:ext cx="5446418" cy="437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701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-11480" y="44624"/>
            <a:ext cx="8183880" cy="792088"/>
          </a:xfrm>
        </p:spPr>
        <p:txBody>
          <a:bodyPr/>
          <a:lstStyle/>
          <a:p>
            <a:r>
              <a:rPr lang="es-MX" b="1" dirty="0">
                <a:solidFill>
                  <a:schemeClr val="tx1"/>
                </a:solidFill>
              </a:rPr>
              <a:t>BIBLIOGRAFÍA: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544616"/>
          </a:xfrm>
        </p:spPr>
        <p:txBody>
          <a:bodyPr>
            <a:normAutofit/>
          </a:bodyPr>
          <a:lstStyle/>
          <a:p>
            <a:pPr lvl="0" algn="just"/>
            <a:endParaRPr lang="es-MX" sz="2200" dirty="0"/>
          </a:p>
          <a:p>
            <a:pPr lvl="0" algn="just"/>
            <a:r>
              <a:rPr lang="es-MX" sz="2200" dirty="0" err="1"/>
              <a:t>Tanenbaum</a:t>
            </a:r>
            <a:r>
              <a:rPr lang="es-MX" sz="2200" dirty="0"/>
              <a:t>, Andrew S., Redes de Computadoras, Cuarta Edición, Pearson/Prentice-Hall, México, 2004, ISBN: 9702601622</a:t>
            </a:r>
          </a:p>
          <a:p>
            <a:pPr lvl="0" algn="just"/>
            <a:r>
              <a:rPr lang="en-US" sz="2200" dirty="0"/>
              <a:t>Sean Harnedy, "The MPLS Primer. An Introduction to Multiprotocol Label Switching", Prentice Hall, 2001 ISBN: 9780130329806. </a:t>
            </a:r>
            <a:endParaRPr lang="es-MX" sz="2200" dirty="0"/>
          </a:p>
          <a:p>
            <a:pPr lvl="0" algn="just"/>
            <a:r>
              <a:rPr lang="en-US" sz="2200" dirty="0"/>
              <a:t>J. Zuidweg, "Next Generation Intelligent Networks", Artech House, 2002, ISBN: 1-58053-263-2. </a:t>
            </a:r>
            <a:endParaRPr lang="es-MX" sz="2200" dirty="0"/>
          </a:p>
          <a:p>
            <a:pPr lvl="0" algn="just"/>
            <a:r>
              <a:rPr lang="es-MX" sz="2200" dirty="0"/>
              <a:t>Herrera, Enrique Introducción a las telecomunicaciones Modernas, Limusa. 2004, ISBN: 9789681855062</a:t>
            </a:r>
          </a:p>
          <a:p>
            <a:pPr algn="just"/>
            <a:r>
              <a:rPr lang="es-MX" sz="2200" dirty="0"/>
              <a:t>Johnson, Alan, LAN inalámbrica y conmutada, Primera edición, 2009, Pearson-PHH, Cisco Press, ISBN: 9788483224779</a:t>
            </a:r>
          </a:p>
        </p:txBody>
      </p:sp>
    </p:spTree>
    <p:extLst>
      <p:ext uri="{BB962C8B-B14F-4D97-AF65-F5344CB8AC3E}">
        <p14:creationId xmlns:p14="http://schemas.microsoft.com/office/powerpoint/2010/main" val="2667231914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-36512" y="1176"/>
            <a:ext cx="8183880" cy="691520"/>
          </a:xfrm>
        </p:spPr>
        <p:txBody>
          <a:bodyPr/>
          <a:lstStyle/>
          <a:p>
            <a:r>
              <a:rPr lang="es-MX" dirty="0">
                <a:solidFill>
                  <a:schemeClr val="tx1"/>
                </a:solidFill>
              </a:rPr>
              <a:t>BIBLIOGRAFÍA cont.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688632"/>
          </a:xfrm>
        </p:spPr>
        <p:txBody>
          <a:bodyPr>
            <a:noAutofit/>
          </a:bodyPr>
          <a:lstStyle/>
          <a:p>
            <a:pPr lvl="0" algn="just"/>
            <a:r>
              <a:rPr lang="es-MX" sz="2200" dirty="0"/>
              <a:t>Conceptos y protocolos de enrutamiento, Johnson, Alan, Primera edición, 2009, Pearson-PHH, Cisco Press, ISBN: 9788483224762 </a:t>
            </a:r>
          </a:p>
          <a:p>
            <a:pPr lvl="0" algn="just"/>
            <a:r>
              <a:rPr lang="es-MX" sz="2200" dirty="0"/>
              <a:t>CISCO Systems, Fundamentos de LAN inalámbricas, Primera edición, Pearson/Cisco Press, 2006, ISBN: 9788483222874</a:t>
            </a:r>
          </a:p>
          <a:p>
            <a:pPr lvl="0" algn="just"/>
            <a:r>
              <a:rPr lang="es-MX" sz="2200" dirty="0"/>
              <a:t>CISCO Systems, Fundamentos de seguridad en redes, Primera edición, Pearson/Cisco Press, ISBN: 9788420545400</a:t>
            </a:r>
          </a:p>
          <a:p>
            <a:pPr lvl="0" algn="just"/>
            <a:r>
              <a:rPr lang="es-MX" sz="2200" dirty="0"/>
              <a:t>CISCO Systems, Guía del Primer año CCNA 1 y 2, Academia de Networking de Cisco Systems, Tercera edición, Pearson/Cisco Press, 2004 ISBN: 842054079X</a:t>
            </a:r>
          </a:p>
          <a:p>
            <a:pPr lvl="0" algn="just"/>
            <a:r>
              <a:rPr lang="es-MX" sz="2200" dirty="0"/>
              <a:t>CISCO Systems, Guía del Segundo año CCNA 3 y 4, Academia de Networking de Cisco Systems, Tercera edición, Pearson/Cisco Press, 2004, ISBN: 842054079X</a:t>
            </a:r>
          </a:p>
          <a:p>
            <a:pPr algn="just"/>
            <a:r>
              <a:rPr lang="es-MX" sz="2200" dirty="0">
                <a:solidFill>
                  <a:schemeClr val="bg1"/>
                </a:solidFill>
              </a:rPr>
              <a:t>Limehouse Book Sprint Team, Redes inalámbricas en los países en desarrollo, Segunda edición, 2007, ISBN: 9780977809356.</a:t>
            </a:r>
          </a:p>
        </p:txBody>
      </p:sp>
    </p:spTree>
    <p:extLst>
      <p:ext uri="{BB962C8B-B14F-4D97-AF65-F5344CB8AC3E}">
        <p14:creationId xmlns:p14="http://schemas.microsoft.com/office/powerpoint/2010/main" val="68818093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0" y="0"/>
            <a:ext cx="8183880" cy="691520"/>
          </a:xfrm>
        </p:spPr>
        <p:txBody>
          <a:bodyPr/>
          <a:lstStyle/>
          <a:p>
            <a:pPr algn="ctr"/>
            <a:r>
              <a:rPr lang="es-MX" dirty="0"/>
              <a:t>ACUERDOS</a:t>
            </a:r>
            <a:r>
              <a:rPr lang="es-MX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79512" y="404664"/>
            <a:ext cx="8856984" cy="5688632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s-MX" sz="2200" dirty="0"/>
              <a:t>Asistencia	 							  5%		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s-MX" sz="2200" dirty="0"/>
              <a:t>Participaciones 							  5%			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s-MX" sz="2200" dirty="0"/>
              <a:t>Tareas 								  5%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s-MX" sz="2200" dirty="0"/>
              <a:t>Exámenes								10%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s-MX" sz="2200" dirty="0"/>
              <a:t>Presentaciones, 	exposiciones				15%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s-MX" sz="2200" dirty="0"/>
              <a:t>Proyecto Final 							60%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s-MX" sz="2200" dirty="0"/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MX" sz="2200" dirty="0"/>
              <a:t>Las tareas, presentaciones y exposiciones serán entregadas en formato *.</a:t>
            </a:r>
            <a:r>
              <a:rPr lang="es-MX" sz="2200" dirty="0" err="1"/>
              <a:t>pdf</a:t>
            </a:r>
            <a:endParaRPr lang="es-MX" sz="2200" dirty="0"/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MX" sz="2200" dirty="0"/>
              <a:t>El envío de los exámenes en la plataforma será cumpliendo con el procedimiento explicado a continuación.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MX" sz="2200" dirty="0"/>
              <a:t>El formato del archivo </a:t>
            </a:r>
            <a:r>
              <a:rPr lang="es-MX" sz="2200" b="1" u="sng" dirty="0"/>
              <a:t>SIEMPRE </a:t>
            </a:r>
            <a:r>
              <a:rPr lang="es-MX" sz="2200" dirty="0"/>
              <a:t>será en Word, en el examen deberá escribir su nombre y numero de control, al enviar el documento a través de la plataforma </a:t>
            </a:r>
            <a:r>
              <a:rPr lang="es-MX" sz="2200" b="1" u="sng" dirty="0"/>
              <a:t>SOLAMENTE </a:t>
            </a:r>
            <a:r>
              <a:rPr lang="es-MX" sz="2200" dirty="0"/>
              <a:t>será con su número de control.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MX" sz="2200" b="1" u="sng" dirty="0"/>
              <a:t>Examen que NO cumpla con lo expuesto anteriormente no será evaluado</a:t>
            </a:r>
            <a:endParaRPr lang="es-MX" sz="2200" dirty="0"/>
          </a:p>
        </p:txBody>
      </p:sp>
    </p:spTree>
    <p:extLst>
      <p:ext uri="{BB962C8B-B14F-4D97-AF65-F5344CB8AC3E}">
        <p14:creationId xmlns:p14="http://schemas.microsoft.com/office/powerpoint/2010/main" val="4691187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0" y="130912"/>
            <a:ext cx="8183880" cy="691520"/>
          </a:xfrm>
        </p:spPr>
        <p:txBody>
          <a:bodyPr/>
          <a:lstStyle/>
          <a:p>
            <a:pPr algn="ctr"/>
            <a:r>
              <a:rPr lang="es-MX" dirty="0"/>
              <a:t>ACUERDOS</a:t>
            </a:r>
            <a:r>
              <a:rPr lang="es-MX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-180528" y="620688"/>
            <a:ext cx="9324528" cy="4837640"/>
          </a:xfrm>
        </p:spPr>
        <p:txBody>
          <a:bodyPr>
            <a:noAutofit/>
          </a:bodyPr>
          <a:lstStyle/>
          <a:p>
            <a:pPr marL="109728" indent="0" algn="just">
              <a:buNone/>
            </a:pPr>
            <a:endParaRPr lang="es-MX" sz="800" dirty="0"/>
          </a:p>
          <a:p>
            <a:pPr marL="395478" indent="-285750" algn="just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MX" dirty="0"/>
              <a:t>Durante el semestre conforme se vaya avanzando en los temas, los alumnos deberán de crear un escenario donde van a colocar </a:t>
            </a:r>
            <a:r>
              <a:rPr lang="es-MX" b="1" u="sng" dirty="0"/>
              <a:t>TODOS</a:t>
            </a:r>
            <a:r>
              <a:rPr lang="es-MX" dirty="0"/>
              <a:t> los temas vistos en clase, ya que ese será su proyecto final.</a:t>
            </a:r>
          </a:p>
          <a:p>
            <a:pPr marL="395478" indent="-285750" algn="just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MX" dirty="0"/>
              <a:t>En caso de no decidir por esa opción entonces habrá exámenes teóricos-prácticos cada ciertos tópicos vistos, estará a discreción del profesor decir cuando habrá evaluación.</a:t>
            </a:r>
          </a:p>
          <a:p>
            <a:pPr marL="395478" indent="-285750" algn="just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MX" dirty="0"/>
              <a:t>Las prácticas realizadas en el simulador Packet Tracer versión?,  los archivos *.</a:t>
            </a:r>
            <a:r>
              <a:rPr lang="es-MX" dirty="0" err="1"/>
              <a:t>pkt</a:t>
            </a:r>
            <a:r>
              <a:rPr lang="es-MX" dirty="0"/>
              <a:t> y los *.</a:t>
            </a:r>
            <a:r>
              <a:rPr lang="es-MX" dirty="0" err="1"/>
              <a:t>txt</a:t>
            </a:r>
            <a:r>
              <a:rPr lang="es-MX" dirty="0"/>
              <a:t> de las prácticas realizadas,  durante el semestre, ya que se entregarán al final, quien no los entregue o presente menor cantidad de prácticas no tendrá derecho a examen final.</a:t>
            </a:r>
          </a:p>
          <a:p>
            <a:pPr marL="452628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s-MX" dirty="0"/>
              <a:t>La información que se les solicitará será por los conductos del  correo electrónico de la materia, por WhatsApp, o la plataforma Moodle de </a:t>
            </a:r>
            <a:r>
              <a:rPr lang="es-MX" dirty="0" err="1"/>
              <a:t>catedig</a:t>
            </a:r>
            <a:r>
              <a:rPr lang="es-MX" dirty="0"/>
              <a:t>.</a:t>
            </a:r>
          </a:p>
          <a:p>
            <a:pPr marL="452628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s-MX" b="1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Correo de la materia: </a:t>
            </a:r>
            <a:r>
              <a:rPr lang="es-MX" b="1" u="sng" dirty="0">
                <a:solidFill>
                  <a:srgbClr val="FA2B5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MX" b="1" u="sng" dirty="0">
                <a:solidFill>
                  <a:schemeClr val="accent6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conmutae17a@gmail.com</a:t>
            </a:r>
            <a:endParaRPr lang="es-MX" b="1" u="sng" dirty="0">
              <a:solidFill>
                <a:schemeClr val="accent6">
                  <a:lumMod val="50000"/>
                </a:schemeClr>
              </a:solidFill>
            </a:endParaRPr>
          </a:p>
          <a:p>
            <a:pPr marL="452628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s-MX" dirty="0"/>
              <a:t>Contraseña para inscripción en la plataforma:  </a:t>
            </a:r>
            <a:r>
              <a:rPr lang="es-MX" b="1" dirty="0">
                <a:solidFill>
                  <a:schemeClr val="accent6">
                    <a:lumMod val="50000"/>
                  </a:schemeClr>
                </a:solidFill>
              </a:rPr>
              <a:t>conmutasej26</a:t>
            </a:r>
          </a:p>
        </p:txBody>
      </p:sp>
    </p:spTree>
    <p:extLst>
      <p:ext uri="{BB962C8B-B14F-4D97-AF65-F5344CB8AC3E}">
        <p14:creationId xmlns:p14="http://schemas.microsoft.com/office/powerpoint/2010/main" val="30588429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D16701E-7907-FE50-57C8-7B6B9B161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812" y="36810"/>
            <a:ext cx="3384376" cy="6016670"/>
          </a:xfr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EB12260-D329-3D7F-C12C-7A817EA1A6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187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9638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2680</TotalTime>
  <Words>1031</Words>
  <Application>Microsoft Office PowerPoint</Application>
  <PresentationFormat>Presentación en pantalla (4:3)</PresentationFormat>
  <Paragraphs>101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 New</vt:lpstr>
      <vt:lpstr>Franklin Gothic Demi Cond</vt:lpstr>
      <vt:lpstr>Gill Sans MT</vt:lpstr>
      <vt:lpstr>Wingdings</vt:lpstr>
      <vt:lpstr>Galería</vt:lpstr>
      <vt:lpstr>CONMUTACIÓN Y ENRUTAMIENTO DE REDES DE DATOS.         </vt:lpstr>
      <vt:lpstr>Presentación de PowerPoint</vt:lpstr>
      <vt:lpstr>Presentación de PowerPoint</vt:lpstr>
      <vt:lpstr>Presentación de PowerPoint</vt:lpstr>
      <vt:lpstr>TEMA I: DIRECCIONAMIENTO IP  Y ENRUTAMIENTO</vt:lpstr>
      <vt:lpstr> TEMA II. CONMUTACIÓN DE REDES LAN.</vt:lpstr>
      <vt:lpstr>TEMA III.                 TECNOLOGÍAS WAN.</vt:lpstr>
      <vt:lpstr>TEMA IV.  TECNOLOGÍAS INALÁMBRICAS.</vt:lpstr>
      <vt:lpstr>BIBLIOGRAFÍA:</vt:lpstr>
      <vt:lpstr>BIBLIOGRAFÍA cont.</vt:lpstr>
      <vt:lpstr>ACUERDOS.</vt:lpstr>
      <vt:lpstr>ACUERDOS.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CONMUTACIÓN Y ENRUTAMIENTO  DE REDES DE DATOS.</dc:title>
  <dc:creator>Usuario</dc:creator>
  <cp:lastModifiedBy>Ricardo De Avila</cp:lastModifiedBy>
  <cp:revision>167</cp:revision>
  <dcterms:created xsi:type="dcterms:W3CDTF">2014-08-12T21:03:31Z</dcterms:created>
  <dcterms:modified xsi:type="dcterms:W3CDTF">2026-01-07T21:24:35Z</dcterms:modified>
</cp:coreProperties>
</file>